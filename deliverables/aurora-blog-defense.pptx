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95afeaec984875" /><Relationship Type="http://schemas.openxmlformats.org/officeDocument/2006/relationships/extended-properties" Target="/docProps/app.xml" Id="Rc4e7bf781e9344f6" /><Relationship Type="http://schemas.openxmlformats.org/officeDocument/2006/relationships/officeDocument" Target="/ppt/presentation.xml" Id="Rf14922585bd74d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a88e05c92462d"/>
  </p:sldMasterIdLst>
  <p:notesMasterIdLst>
    <p:notesMasterId xmlns:r="http://schemas.openxmlformats.org/officeDocument/2006/relationships" r:id="Rca7e31e75bc747ec"/>
  </p:notesMasterIdLst>
  <p:sldIdLst>
    <p:sldId xmlns:r="http://schemas.openxmlformats.org/officeDocument/2006/relationships" id="256" r:id="Rd5e94e6b3e0f4fd0"/>
    <p:sldId xmlns:r="http://schemas.openxmlformats.org/officeDocument/2006/relationships" id="257" r:id="R97279bf3065849c7"/>
    <p:sldId xmlns:r="http://schemas.openxmlformats.org/officeDocument/2006/relationships" id="258" r:id="R850ed5a091444ba4"/>
    <p:sldId xmlns:r="http://schemas.openxmlformats.org/officeDocument/2006/relationships" id="259" r:id="R7a2bb2c73f8f4890"/>
    <p:sldId xmlns:r="http://schemas.openxmlformats.org/officeDocument/2006/relationships" id="260" r:id="R9ae76971d2074e5f"/>
    <p:sldId xmlns:r="http://schemas.openxmlformats.org/officeDocument/2006/relationships" id="261" r:id="Rbcfca36d44f1412d"/>
    <p:sldId xmlns:r="http://schemas.openxmlformats.org/officeDocument/2006/relationships" id="262" r:id="Rd9531e592d9c456f"/>
    <p:sldId xmlns:r="http://schemas.openxmlformats.org/officeDocument/2006/relationships" id="263" r:id="R18081142e2f1452e"/>
    <p:sldId xmlns:r="http://schemas.openxmlformats.org/officeDocument/2006/relationships" id="264" r:id="R59748bedb1164186"/>
    <p:sldId xmlns:r="http://schemas.openxmlformats.org/officeDocument/2006/relationships" id="265" r:id="R6175358d83c64f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638891df754e83" /><Relationship Type="http://schemas.openxmlformats.org/officeDocument/2006/relationships/slideMaster" Target="/ppt/slideMasters/slideMaster1.xml" Id="Ra50a88e05c92462d" /><Relationship Type="http://schemas.openxmlformats.org/officeDocument/2006/relationships/notesMaster" Target="/ppt/notesMasters/notesMaster1.xml" Id="Rca7e31e75bc747ec" /><Relationship Type="http://schemas.openxmlformats.org/officeDocument/2006/relationships/presProps" Target="/ppt/presProps.xml" Id="Rb8c6fdf68033463e" /><Relationship Type="http://schemas.openxmlformats.org/officeDocument/2006/relationships/tableStyles" Target="/ppt/tableStyles.xml" Id="R352e4305c8084e69" /><Relationship Type="http://schemas.openxmlformats.org/officeDocument/2006/relationships/slide" Target="/ppt/slides/slide1.xml" Id="Rd5e94e6b3e0f4fd0" /><Relationship Type="http://schemas.openxmlformats.org/officeDocument/2006/relationships/slide" Target="/ppt/slides/slide2.xml" Id="R97279bf3065849c7" /><Relationship Type="http://schemas.openxmlformats.org/officeDocument/2006/relationships/slide" Target="/ppt/slides/slide3.xml" Id="R850ed5a091444ba4" /><Relationship Type="http://schemas.openxmlformats.org/officeDocument/2006/relationships/slide" Target="/ppt/slides/slide4.xml" Id="R7a2bb2c73f8f4890" /><Relationship Type="http://schemas.openxmlformats.org/officeDocument/2006/relationships/slide" Target="/ppt/slides/slide5.xml" Id="R9ae76971d2074e5f" /><Relationship Type="http://schemas.openxmlformats.org/officeDocument/2006/relationships/slide" Target="/ppt/slides/slide6.xml" Id="Rbcfca36d44f1412d" /><Relationship Type="http://schemas.openxmlformats.org/officeDocument/2006/relationships/slide" Target="/ppt/slides/slide7.xml" Id="Rd9531e592d9c456f" /><Relationship Type="http://schemas.openxmlformats.org/officeDocument/2006/relationships/slide" Target="/ppt/slides/slide8.xml" Id="R18081142e2f1452e" /><Relationship Type="http://schemas.openxmlformats.org/officeDocument/2006/relationships/slide" Target="/ppt/slides/slide9.xml" Id="R59748bedb1164186" /><Relationship Type="http://schemas.openxmlformats.org/officeDocument/2006/relationships/slide" Target="/ppt/slides/slide10.xml" Id="R6175358d83c64f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42548f3a8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c8d0857787438b" /><Relationship Type="http://schemas.openxmlformats.org/officeDocument/2006/relationships/notesMaster" Target="/ppt/notesMasters/notesMaster1.xml" Id="R0a8d4a47ff43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8aaf300e314929" /><Relationship Type="http://schemas.openxmlformats.org/officeDocument/2006/relationships/notesMaster" Target="/ppt/notesMasters/notesMaster1.xml" Id="R108566d21518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291d28ca844608" /><Relationship Type="http://schemas.openxmlformats.org/officeDocument/2006/relationships/notesMaster" Target="/ppt/notesMasters/notesMaster1.xml" Id="R5dd9c5f71534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69e108b1b4fab" /><Relationship Type="http://schemas.openxmlformats.org/officeDocument/2006/relationships/notesMaster" Target="/ppt/notesMasters/notesMaster1.xml" Id="Ra7fc18dec747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d843db205c4f75" /><Relationship Type="http://schemas.openxmlformats.org/officeDocument/2006/relationships/notesMaster" Target="/ppt/notesMasters/notesMaster1.xml" Id="Rcb2d1b910d85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30d27e71ff4be5" /><Relationship Type="http://schemas.openxmlformats.org/officeDocument/2006/relationships/notesMaster" Target="/ppt/notesMasters/notesMaster1.xml" Id="Rf6583d9877854e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5739e1362418e" /><Relationship Type="http://schemas.openxmlformats.org/officeDocument/2006/relationships/notesMaster" Target="/ppt/notesMasters/notesMaster1.xml" Id="R32c95105730341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b87939ef80437d" /><Relationship Type="http://schemas.openxmlformats.org/officeDocument/2006/relationships/notesMaster" Target="/ppt/notesMasters/notesMaster1.xml" Id="Rcecd9fb0c9a74f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ebb9830104ce6" /><Relationship Type="http://schemas.openxmlformats.org/officeDocument/2006/relationships/notesMaster" Target="/ppt/notesMasters/notesMaster1.xml" Id="R0075e787c616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8eddcf7bc74b25" /><Relationship Type="http://schemas.openxmlformats.org/officeDocument/2006/relationships/notesMaster" Target="/ppt/notesMasters/notesMaster1.xml" Id="R0f68a71b65d446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8ec63b1d1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d52723d7b4718" /><Relationship Type="http://schemas.openxmlformats.org/officeDocument/2006/relationships/slideLayout" Target="/ppt/slideLayouts/slideLayout1.xml" Id="Redcf4732d6c0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f4732d6c0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fb3a6ec984f81" /><Relationship Type="http://schemas.openxmlformats.org/officeDocument/2006/relationships/notesSlide" Target="/ppt/notesSlides/notesSlide1.xml" Id="Rf0ec8e1c42ce4a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bc6ce2cbb4135" /><Relationship Type="http://schemas.openxmlformats.org/officeDocument/2006/relationships/notesSlide" Target="/ppt/notesSlides/notesSlide2.xml" Id="R2b50d447f2d0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4a38b4ef742e8" /><Relationship Type="http://schemas.openxmlformats.org/officeDocument/2006/relationships/notesSlide" Target="/ppt/notesSlides/notesSlide3.xml" Id="Refa79ec3657f4a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53e4321041bf" /><Relationship Type="http://schemas.openxmlformats.org/officeDocument/2006/relationships/notesSlide" Target="/ppt/notesSlides/notesSlide4.xml" Id="Rc456ab642e304a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ce1f5057e445c" /><Relationship Type="http://schemas.openxmlformats.org/officeDocument/2006/relationships/notesSlide" Target="/ppt/notesSlides/notesSlide5.xml" Id="R43156f0516de49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7c1271e904c1b" /><Relationship Type="http://schemas.openxmlformats.org/officeDocument/2006/relationships/image" Target="/ppt/media/image.png" Id="R1630d49af24943cd" /><Relationship Type="http://schemas.openxmlformats.org/officeDocument/2006/relationships/notesSlide" Target="/ppt/notesSlides/notesSlide6.xml" Id="Rdb485c7de68e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60804e8154f41" /><Relationship Type="http://schemas.openxmlformats.org/officeDocument/2006/relationships/image" Target="/ppt/media/image2.png" Id="Rddc9803c63454a61" /><Relationship Type="http://schemas.openxmlformats.org/officeDocument/2006/relationships/notesSlide" Target="/ppt/notesSlides/notesSlide7.xml" Id="R97a5e38b27e744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6bc4a3fa64f28" /><Relationship Type="http://schemas.openxmlformats.org/officeDocument/2006/relationships/notesSlide" Target="/ppt/notesSlides/notesSlide8.xml" Id="R974e07dae45e46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2a1ffe2154280" /><Relationship Type="http://schemas.openxmlformats.org/officeDocument/2006/relationships/notesSlide" Target="/ppt/notesSlides/notesSlide9.xml" Id="R7fe2f9fcf16448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b6b9f49514c41" /><Relationship Type="http://schemas.openxmlformats.org/officeDocument/2006/relationships/notesSlide" Target="/ppt/notesSlides/notesSlide10.xml" Id="R602a42bdb10844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9508788-00B6-4C28-9CB3-2CEEC7C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JAVA 后端开发实战 · 全栈闭环交付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5EF97D-332B-4ADD-86B2-16D265F4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Aurora</a:t>
            </a:r>
          </a:p>
          <a:p xmlns:a="http://schemas.openxmlformats.org/drawingml/2006/main">
            <a:pPr algn="l">
              <a:defRPr sz="58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Blog Platform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714163F4-1F03-4897-B128-977B6BB5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一个真实运行、可恢复、可协作的现代个人博客系统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F5847B3-1C11-49BA-8071-3C5691C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25DB5CAE-1766-47CA-9A20-BAEE82C5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Spring Boot 4.1.1 · Vue 3.5 · MySQL 8.4 · Redis 7.4</a:t>
            </a:r>
          </a:p>
        </p:txBody>
      </p:sp>
      <p:sp>
        <p:nvSpPr>
          <p:cNvPr id="6" name="cover-owner">
            <a:extLst xmlns:a="http://schemas.openxmlformats.org/drawingml/2006/main">
              <a:ext uri="{FF2B5EF4-FFF2-40B4-BE49-F238E27FC236}">
                <a16:creationId xmlns:a16="http://schemas.microsoft.com/office/drawing/2014/main" id="{712FC547-5506-4910-A75F-057C593B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34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仓库所有者  lzl051120</a:t>
            </a:r>
          </a:p>
        </p:txBody>
      </p:sp>
    </p:spTree>
    <p:extLst>
      <p:ext uri="{BB962C8B-B14F-4D97-AF65-F5344CB8AC3E}">
        <p14:creationId xmlns:p14="http://schemas.microsoft.com/office/powerpoint/2010/main" val="298967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2">
            <a:extLst xmlns:a="http://schemas.openxmlformats.org/drawingml/2006/main">
              <a:ext uri="{FF2B5EF4-FFF2-40B4-BE49-F238E27FC236}">
                <a16:creationId xmlns:a16="http://schemas.microsoft.com/office/drawing/2014/main" id="{C1F7BC49-4781-49DC-9775-A9716FB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AURORA BLOG PLATFORM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EBF36B0-E4F7-4D24-A7AF-6A316882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一个博客，要同时服务三种角色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9D7E37E-7CE8-47B5-A064-DB2ECA33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n-1-210">
            <a:extLst xmlns:a="http://schemas.openxmlformats.org/drawingml/2006/main">
              <a:ext uri="{FF2B5EF4-FFF2-40B4-BE49-F238E27FC236}">
                <a16:creationId xmlns:a16="http://schemas.microsoft.com/office/drawing/2014/main" id="{CDE1271D-2228-425B-8C52-0473D58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bt-1-210">
            <a:extLst xmlns:a="http://schemas.openxmlformats.org/drawingml/2006/main">
              <a:ext uri="{FF2B5EF4-FFF2-40B4-BE49-F238E27FC236}">
                <a16:creationId xmlns:a16="http://schemas.microsoft.com/office/drawing/2014/main" id="{3CF360AF-86A0-4981-B3FF-543E446C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游客：快速找到值得读的内容</a:t>
            </a:r>
          </a:p>
        </p:txBody>
      </p:sp>
      <p:sp>
        <p:nvSpPr>
          <p:cNvPr id="6" name="bb-1-210">
            <a:extLst xmlns:a="http://schemas.openxmlformats.org/drawingml/2006/main">
              <a:ext uri="{FF2B5EF4-FFF2-40B4-BE49-F238E27FC236}">
                <a16:creationId xmlns:a16="http://schemas.microsoft.com/office/drawing/2014/main" id="{54179B3B-1DBD-41DE-80BC-D5C2249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首页精选、全文检索、分类筛选、热门排序与文章详情共同完成阅读路径。</a:t>
            </a:r>
          </a:p>
        </p:txBody>
      </p:sp>
      <p:sp>
        <p:nvSpPr>
          <p:cNvPr id="7" name="n-2-210">
            <a:extLst xmlns:a="http://schemas.openxmlformats.org/drawingml/2006/main">
              <a:ext uri="{FF2B5EF4-FFF2-40B4-BE49-F238E27FC236}">
                <a16:creationId xmlns:a16="http://schemas.microsoft.com/office/drawing/2014/main" id="{46738B60-DC91-4329-A2AA-BC47B3E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bt-2-210">
            <a:extLst xmlns:a="http://schemas.openxmlformats.org/drawingml/2006/main">
              <a:ext uri="{FF2B5EF4-FFF2-40B4-BE49-F238E27FC236}">
                <a16:creationId xmlns:a16="http://schemas.microsoft.com/office/drawing/2014/main" id="{032A5147-CD82-44CE-8D39-1B93C0E6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读者：可信地参与交流</a:t>
            </a:r>
          </a:p>
        </p:txBody>
      </p:sp>
      <p:sp>
        <p:nvSpPr>
          <p:cNvPr id="9" name="bb-2-210">
            <a:extLst xmlns:a="http://schemas.openxmlformats.org/drawingml/2006/main">
              <a:ext uri="{FF2B5EF4-FFF2-40B4-BE49-F238E27FC236}">
                <a16:creationId xmlns:a16="http://schemas.microsoft.com/office/drawing/2014/main" id="{8DD75C7B-4947-4858-9174-D47D028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注册登录、个人资料、评论和留言都有明确状态反馈，公开内容必须先审核。</a:t>
            </a:r>
          </a:p>
        </p:txBody>
      </p:sp>
      <p:sp>
        <p:nvSpPr>
          <p:cNvPr id="10" name="n-3-210">
            <a:extLst xmlns:a="http://schemas.openxmlformats.org/drawingml/2006/main">
              <a:ext uri="{FF2B5EF4-FFF2-40B4-BE49-F238E27FC236}">
                <a16:creationId xmlns:a16="http://schemas.microsoft.com/office/drawing/2014/main" id="{59BAAA73-31AC-4921-B130-36B26A3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bt-3-210">
            <a:extLst xmlns:a="http://schemas.openxmlformats.org/drawingml/2006/main">
              <a:ext uri="{FF2B5EF4-FFF2-40B4-BE49-F238E27FC236}">
                <a16:creationId xmlns:a16="http://schemas.microsoft.com/office/drawing/2014/main" id="{82ECEFC0-DD01-4D5A-ADCE-6A88ACE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8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管理员：持续运营而非手改数据</a:t>
            </a:r>
          </a:p>
        </p:txBody>
      </p:sp>
      <p:sp>
        <p:nvSpPr>
          <p:cNvPr id="12" name="bb-3-210">
            <a:extLst xmlns:a="http://schemas.openxmlformats.org/drawingml/2006/main">
              <a:ext uri="{FF2B5EF4-FFF2-40B4-BE49-F238E27FC236}">
                <a16:creationId xmlns:a16="http://schemas.microsoft.com/office/drawing/2014/main" id="{584EA593-A69C-49F6-928A-9BAF143A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文章编辑、分类、评论、留言、用户和媒体统一进入内容工作台。</a:t>
            </a:r>
          </a:p>
        </p:txBody>
      </p:sp>
      <p:sp>
        <p:nvSpPr>
          <p:cNvPr id="13" name="thesis-band">
            <a:extLst xmlns:a="http://schemas.openxmlformats.org/drawingml/2006/main">
              <a:ext uri="{FF2B5EF4-FFF2-40B4-BE49-F238E27FC236}">
                <a16:creationId xmlns:a16="http://schemas.microsoft.com/office/drawing/2014/main" id="{91ED5A73-6248-44AA-B610-AB4A0DA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hesis">
            <a:extLst xmlns:a="http://schemas.openxmlformats.org/drawingml/2006/main">
              <a:ext uri="{FF2B5EF4-FFF2-40B4-BE49-F238E27FC236}">
                <a16:creationId xmlns:a16="http://schemas.microsoft.com/office/drawing/2014/main" id="{96CBB940-E1FC-4E3D-A3AF-52753EB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核心设计：公开阅读保持轻，内容治理保持严，所有状态都给用户清楚反馈。</a:t>
            </a:r>
          </a:p>
        </p:txBody>
      </p:sp>
    </p:spTree>
    <p:extLst>
      <p:ext uri="{BB962C8B-B14F-4D97-AF65-F5344CB8AC3E}">
        <p14:creationId xmlns:p14="http://schemas.microsoft.com/office/powerpoint/2010/main" val="1410897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3">
            <a:extLst xmlns:a="http://schemas.openxmlformats.org/drawingml/2006/main">
              <a:ext uri="{FF2B5EF4-FFF2-40B4-BE49-F238E27FC236}">
                <a16:creationId xmlns:a16="http://schemas.microsoft.com/office/drawing/2014/main" id="{8992DFC3-C114-43C1-9CA2-02D9118A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50B964B-69C3-4A16-BDE0-5232ACA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唯一入口之后，服务职责清晰分离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E85692B3-8FF8-46E4-AC03-1172236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1" name="edge-0"/>
          <p:cNvCxnSpPr/>
          <p:nvPr/>
        </p:nvCxnSpPr>
        <p:spPr>
          <a:xfrm xmlns:a="http://schemas.openxmlformats.org/drawingml/2006/main">
            <a:off x="2247900" y="323850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2" name="edge-1"/>
          <p:cNvCxnSpPr/>
          <p:nvPr/>
        </p:nvCxnSpPr>
        <p:spPr>
          <a:xfrm xmlns:a="http://schemas.openxmlformats.org/drawingml/2006/main">
            <a:off x="4953000" y="323850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3" name="edge-2"/>
          <p:cNvCxnSpPr/>
          <p:nvPr/>
        </p:nvCxnSpPr>
        <p:spPr>
          <a:xfrm xmlns:a="http://schemas.openxmlformats.org/drawingml/2006/main">
            <a:off x="7658100" y="2000250"/>
            <a:ext cx="11430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edge-3"/>
          <p:cNvCxnSpPr/>
          <p:nvPr/>
        </p:nvCxnSpPr>
        <p:spPr>
          <a:xfrm xmlns:a="http://schemas.openxmlformats.org/drawingml/2006/main">
            <a:off x="7658100" y="3238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edge-4"/>
          <p:cNvCxnSpPr/>
          <p:nvPr/>
        </p:nvCxnSpPr>
        <p:spPr>
          <a:xfrm xmlns:a="http://schemas.openxmlformats.org/drawingml/2006/main">
            <a:off x="7658100" y="3905250"/>
            <a:ext cx="11430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node-0">
            <a:extLst xmlns:a="http://schemas.openxmlformats.org/drawingml/2006/main">
              <a:ext uri="{FF2B5EF4-FFF2-40B4-BE49-F238E27FC236}">
                <a16:creationId xmlns:a16="http://schemas.microsoft.com/office/drawing/2014/main" id="{E2EAE278-8A20-4EE5-AAE5-F3BE807A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847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ode-t-0">
            <a:extLst xmlns:a="http://schemas.openxmlformats.org/drawingml/2006/main">
              <a:ext uri="{FF2B5EF4-FFF2-40B4-BE49-F238E27FC236}">
                <a16:creationId xmlns:a16="http://schemas.microsoft.com/office/drawing/2014/main" id="{80875DE0-3E42-466E-9A49-6C2F035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浏览器</a:t>
            </a:r>
          </a:p>
        </p:txBody>
      </p:sp>
      <p:sp>
        <p:nvSpPr>
          <p:cNvPr id="11" name="node-b-0">
            <a:extLst xmlns:a="http://schemas.openxmlformats.org/drawingml/2006/main">
              <a:ext uri="{FF2B5EF4-FFF2-40B4-BE49-F238E27FC236}">
                <a16:creationId xmlns:a16="http://schemas.microsoft.com/office/drawing/2014/main" id="{3807E8D6-83F8-4781-81FD-22B154B4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公开站 / 个人中心 / 后台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FDA3E60A-1857-45A1-B60D-6F82CCC6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t-1">
            <a:extLst xmlns:a="http://schemas.openxmlformats.org/drawingml/2006/main">
              <a:ext uri="{FF2B5EF4-FFF2-40B4-BE49-F238E27FC236}">
                <a16:creationId xmlns:a16="http://schemas.microsoft.com/office/drawing/2014/main" id="{1263E70A-BF36-4488-9746-D6B0F3F6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Nginx :8080</a:t>
            </a:r>
          </a:p>
        </p:txBody>
      </p:sp>
      <p:sp>
        <p:nvSpPr>
          <p:cNvPr id="14" name="node-b-1">
            <a:extLst xmlns:a="http://schemas.openxmlformats.org/drawingml/2006/main">
              <a:ext uri="{FF2B5EF4-FFF2-40B4-BE49-F238E27FC236}">
                <a16:creationId xmlns:a16="http://schemas.microsoft.com/office/drawing/2014/main" id="{92AFA06A-C5A3-42FD-ABC9-BFD6090F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静态资源与统一反向代理</a:t>
            </a:r>
          </a:p>
        </p:txBody>
      </p:sp>
      <p:sp>
        <p:nvSpPr>
          <p:cNvPr id="15" name="node-2">
            <a:extLst xmlns:a="http://schemas.openxmlformats.org/drawingml/2006/main">
              <a:ext uri="{FF2B5EF4-FFF2-40B4-BE49-F238E27FC236}">
                <a16:creationId xmlns:a16="http://schemas.microsoft.com/office/drawing/2014/main" id="{F14B4152-42EF-436D-963A-FE1E1CA9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ode-t-2">
            <a:extLst xmlns:a="http://schemas.openxmlformats.org/drawingml/2006/main">
              <a:ext uri="{FF2B5EF4-FFF2-40B4-BE49-F238E27FC236}">
                <a16:creationId xmlns:a16="http://schemas.microsoft.com/office/drawing/2014/main" id="{F75010C1-EC31-4328-BA68-A146B333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7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7" name="node-b-2">
            <a:extLst xmlns:a="http://schemas.openxmlformats.org/drawingml/2006/main">
              <a:ext uri="{FF2B5EF4-FFF2-40B4-BE49-F238E27FC236}">
                <a16:creationId xmlns:a16="http://schemas.microsoft.com/office/drawing/2014/main" id="{18DCB733-B662-4A3E-8962-CD23F29B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REST / 安全 / 业务编排</a:t>
            </a:r>
          </a:p>
        </p:txBody>
      </p:sp>
      <p:sp>
        <p:nvSpPr>
          <p:cNvPr id="18" name="node-3">
            <a:extLst xmlns:a="http://schemas.openxmlformats.org/drawingml/2006/main">
              <a:ext uri="{FF2B5EF4-FFF2-40B4-BE49-F238E27FC236}">
                <a16:creationId xmlns:a16="http://schemas.microsoft.com/office/drawing/2014/main" id="{ADDB111E-A5DC-4A2D-9850-CE2D6FA7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240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ode-t-3">
            <a:extLst xmlns:a="http://schemas.openxmlformats.org/drawingml/2006/main">
              <a:ext uri="{FF2B5EF4-FFF2-40B4-BE49-F238E27FC236}">
                <a16:creationId xmlns:a16="http://schemas.microsoft.com/office/drawing/2014/main" id="{39FB2DB6-A61B-464B-AA9D-478A23DD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335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MySQL 8.4</a:t>
            </a:r>
          </a:p>
        </p:txBody>
      </p:sp>
      <p:sp>
        <p:nvSpPr>
          <p:cNvPr id="20" name="node-b-3">
            <a:extLst xmlns:a="http://schemas.openxmlformats.org/drawingml/2006/main">
              <a:ext uri="{FF2B5EF4-FFF2-40B4-BE49-F238E27FC236}">
                <a16:creationId xmlns:a16="http://schemas.microsoft.com/office/drawing/2014/main" id="{CA72B322-9C43-4397-8178-CBB62F9E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业务事实源 · Flyway 迁移</a:t>
            </a:r>
          </a:p>
        </p:txBody>
      </p:sp>
      <p:sp>
        <p:nvSpPr>
          <p:cNvPr id="21" name="node-4">
            <a:extLst xmlns:a="http://schemas.openxmlformats.org/drawingml/2006/main">
              <a:ext uri="{FF2B5EF4-FFF2-40B4-BE49-F238E27FC236}">
                <a16:creationId xmlns:a16="http://schemas.microsoft.com/office/drawing/2014/main" id="{C5BCBF2F-5E1A-421E-9801-DBEE4513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node-t-4">
            <a:extLst xmlns:a="http://schemas.openxmlformats.org/drawingml/2006/main">
              <a:ext uri="{FF2B5EF4-FFF2-40B4-BE49-F238E27FC236}">
                <a16:creationId xmlns:a16="http://schemas.microsoft.com/office/drawing/2014/main" id="{DE8A91ED-F27F-41AA-A3EE-FEA80EFC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Redis 7.4</a:t>
            </a:r>
          </a:p>
        </p:txBody>
      </p:sp>
      <p:sp>
        <p:nvSpPr>
          <p:cNvPr id="23" name="node-b-4">
            <a:extLst xmlns:a="http://schemas.openxmlformats.org/drawingml/2006/main">
              <a:ext uri="{FF2B5EF4-FFF2-40B4-BE49-F238E27FC236}">
                <a16:creationId xmlns:a16="http://schemas.microsoft.com/office/drawing/2014/main" id="{C009C772-AD84-4EA7-AC8E-6E5C4F3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995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会话 · 限流 · 热门辅助</a:t>
            </a:r>
          </a:p>
        </p:txBody>
      </p:sp>
      <p:sp>
        <p:nvSpPr>
          <p:cNvPr id="24" name="node-5">
            <a:extLst xmlns:a="http://schemas.openxmlformats.org/drawingml/2006/main">
              <a:ext uri="{FF2B5EF4-FFF2-40B4-BE49-F238E27FC236}">
                <a16:creationId xmlns:a16="http://schemas.microsoft.com/office/drawing/2014/main" id="{EAB146F2-ED60-41C5-8F8C-AD891F30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node-t-5">
            <a:extLst xmlns:a="http://schemas.openxmlformats.org/drawingml/2006/main">
              <a:ext uri="{FF2B5EF4-FFF2-40B4-BE49-F238E27FC236}">
                <a16:creationId xmlns:a16="http://schemas.microsoft.com/office/drawing/2014/main" id="{612E426D-DA72-4BFD-857D-0699E69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10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上传持久卷</a:t>
            </a:r>
          </a:p>
        </p:txBody>
      </p:sp>
      <p:sp>
        <p:nvSpPr>
          <p:cNvPr id="26" name="node-b-5">
            <a:extLst xmlns:a="http://schemas.openxmlformats.org/drawingml/2006/main">
              <a:ext uri="{FF2B5EF4-FFF2-40B4-BE49-F238E27FC236}">
                <a16:creationId xmlns:a16="http://schemas.microsoft.com/office/drawing/2014/main" id="{3EE79EB8-2A13-4F57-B1C3-BF9DB1C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482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JPEG / PNG / WebP 安全存储</a:t>
            </a:r>
          </a:p>
        </p:txBody>
      </p:sp>
      <p:sp>
        <p:nvSpPr>
          <p:cNvPr id="27" name="arch-note">
            <a:extLst xmlns:a="http://schemas.openxmlformats.org/drawingml/2006/main">
              <a:ext uri="{FF2B5EF4-FFF2-40B4-BE49-F238E27FC236}">
                <a16:creationId xmlns:a16="http://schemas.microsoft.com/office/drawing/2014/main" id="{7BBF3979-1F91-4046-B3A0-48B525D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B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B4A"/>
                </a:solidFill>
                <a:latin typeface="Arial"/>
                <a:ea typeface="Arial"/>
                <a:cs typeface="Arial"/>
              </a:rPr>
              <a:t>MySQL 保证数据事实；Redis 故障不阻断公开文章阅读。</a:t>
            </a:r>
          </a:p>
        </p:txBody>
      </p:sp>
    </p:spTree>
    <p:extLst>
      <p:ext uri="{BB962C8B-B14F-4D97-AF65-F5344CB8AC3E}">
        <p14:creationId xmlns:p14="http://schemas.microsoft.com/office/powerpoint/2010/main" val="1696513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FCDD55F6-1EEA-4538-9933-A3970BDA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DOMAIN &amp; DATA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8AEADAF-70AC-40B0-A9FB-E8C3053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七类业务实体，围绕内容形成闭环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4559E7EE-33D8-4DEF-A45D-0386BF34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ata-lead">
            <a:extLst xmlns:a="http://schemas.openxmlformats.org/drawingml/2006/main">
              <a:ext uri="{FF2B5EF4-FFF2-40B4-BE49-F238E27FC236}">
                <a16:creationId xmlns:a16="http://schemas.microsoft.com/office/drawing/2014/main" id="{3E778A79-9B8F-4CB2-8724-011CD020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用户是身份根，文章是内容根；评论、留言、媒体和审计记录分别承载互动、资产与追踪。</a:t>
            </a:r>
          </a:p>
        </p:txBody>
      </p:sp>
      <p:sp>
        <p:nvSpPr>
          <p:cNvPr id="5" name="data-panel-0">
            <a:extLst xmlns:a="http://schemas.openxmlformats.org/drawingml/2006/main">
              <a:ext uri="{FF2B5EF4-FFF2-40B4-BE49-F238E27FC236}">
                <a16:creationId xmlns:a16="http://schemas.microsoft.com/office/drawing/2014/main" id="{703691E7-B1DF-482D-A088-69D7AFD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ata-title-0">
            <a:extLst xmlns:a="http://schemas.openxmlformats.org/drawingml/2006/main">
              <a:ext uri="{FF2B5EF4-FFF2-40B4-BE49-F238E27FC236}">
                <a16:creationId xmlns:a16="http://schemas.microsoft.com/office/drawing/2014/main" id="{889125C7-3007-4C3C-96F3-839B7CA8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内容核心</a:t>
            </a:r>
          </a:p>
        </p:txBody>
      </p:sp>
      <p:sp>
        <p:nvSpPr>
          <p:cNvPr id="7" name="data-body-0">
            <a:extLst xmlns:a="http://schemas.openxmlformats.org/drawingml/2006/main">
              <a:ext uri="{FF2B5EF4-FFF2-40B4-BE49-F238E27FC236}">
                <a16:creationId xmlns:a16="http://schemas.microsoft.com/office/drawing/2014/main" id="{34E87132-916E-43F5-8BF3-0813CF1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USERS  用户与角色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CATEGORIES  分类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POSTS  草稿与发布</a:t>
            </a:r>
          </a:p>
        </p:txBody>
      </p:sp>
      <p:sp>
        <p:nvSpPr>
          <p:cNvPr id="8" name="data-panel-1">
            <a:extLst xmlns:a="http://schemas.openxmlformats.org/drawingml/2006/main">
              <a:ext uri="{FF2B5EF4-FFF2-40B4-BE49-F238E27FC236}">
                <a16:creationId xmlns:a16="http://schemas.microsoft.com/office/drawing/2014/main" id="{F0B5A778-D2D5-44F0-B4D0-942F86A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860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-title-1">
            <a:extLst xmlns:a="http://schemas.openxmlformats.org/drawingml/2006/main">
              <a:ext uri="{FF2B5EF4-FFF2-40B4-BE49-F238E27FC236}">
                <a16:creationId xmlns:a16="http://schemas.microsoft.com/office/drawing/2014/main" id="{21CF9947-276C-402D-9C7B-D266B19F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社区互动</a:t>
            </a:r>
          </a:p>
        </p:txBody>
      </p:sp>
      <p:sp>
        <p:nvSpPr>
          <p:cNvPr id="10" name="data-body-1">
            <a:extLst xmlns:a="http://schemas.openxmlformats.org/drawingml/2006/main">
              <a:ext uri="{FF2B5EF4-FFF2-40B4-BE49-F238E27FC236}">
                <a16:creationId xmlns:a16="http://schemas.microsoft.com/office/drawing/2014/main" id="{2AA32C53-7DB1-401A-AE79-6433CA2A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385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COMMENTS  评论审核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GUESTBOOK  留言审核</a:t>
            </a:r>
          </a:p>
        </p:txBody>
      </p:sp>
      <p:sp>
        <p:nvSpPr>
          <p:cNvPr id="11" name="data-panel-2">
            <a:extLst xmlns:a="http://schemas.openxmlformats.org/drawingml/2006/main">
              <a:ext uri="{FF2B5EF4-FFF2-40B4-BE49-F238E27FC236}">
                <a16:creationId xmlns:a16="http://schemas.microsoft.com/office/drawing/2014/main" id="{AEA017AA-CC98-4CA7-87D7-89BCBCBF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ata-title-2">
            <a:extLst xmlns:a="http://schemas.openxmlformats.org/drawingml/2006/main">
              <a:ext uri="{FF2B5EF4-FFF2-40B4-BE49-F238E27FC236}">
                <a16:creationId xmlns:a16="http://schemas.microsoft.com/office/drawing/2014/main" id="{D926DC64-41DF-425B-A9CB-323D1A84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运营支撑</a:t>
            </a:r>
          </a:p>
        </p:txBody>
      </p:sp>
      <p:sp>
        <p:nvSpPr>
          <p:cNvPr id="13" name="data-body-2">
            <a:extLst xmlns:a="http://schemas.openxmlformats.org/drawingml/2006/main">
              <a:ext uri="{FF2B5EF4-FFF2-40B4-BE49-F238E27FC236}">
                <a16:creationId xmlns:a16="http://schemas.microsoft.com/office/drawing/2014/main" id="{00F078D4-2D04-4C49-B6F0-497ADD5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MEDIA_ASSETS  上传文件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AUDIT_LOGS  管理操作</a:t>
            </a:r>
          </a:p>
        </p:txBody>
      </p:sp>
      <p:sp>
        <p:nvSpPr>
          <p:cNvPr id="14" name="data-foot">
            <a:extLst xmlns:a="http://schemas.openxmlformats.org/drawingml/2006/main">
              <a:ext uri="{FF2B5EF4-FFF2-40B4-BE49-F238E27FC236}">
                <a16:creationId xmlns:a16="http://schemas.microsoft.com/office/drawing/2014/main" id="{A3561AF6-6A0F-43F0-B894-213A381C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结构由 Flyway 版本化；实际 MySQL 8.4 结构快照随仓库交付。</a:t>
            </a:r>
          </a:p>
        </p:txBody>
      </p:sp>
    </p:spTree>
    <p:extLst>
      <p:ext uri="{BB962C8B-B14F-4D97-AF65-F5344CB8AC3E}">
        <p14:creationId xmlns:p14="http://schemas.microsoft.com/office/powerpoint/2010/main" val="306009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5">
            <a:extLst xmlns:a="http://schemas.openxmlformats.org/drawingml/2006/main">
              <a:ext uri="{FF2B5EF4-FFF2-40B4-BE49-F238E27FC236}">
                <a16:creationId xmlns:a16="http://schemas.microsoft.com/office/drawing/2014/main" id="{35554C34-9204-4FD9-94A9-F8924F8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SECURITY DESIGN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10BF711-E893-4D63-9F40-952F754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安全不是一个开关，而是五道连续边界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152D8B73-6FDE-4B39-86D9-9BF20FB8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0" name="security-line"/>
          <p:cNvCxnSpPr/>
          <p:nvPr/>
        </p:nvCxnSpPr>
        <p:spPr>
          <a:xfrm xmlns:a="http://schemas.openxmlformats.org/drawingml/2006/main">
            <a:off x="89535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ec-dot-0">
            <a:extLst xmlns:a="http://schemas.openxmlformats.org/drawingml/2006/main">
              <a:ext uri="{FF2B5EF4-FFF2-40B4-BE49-F238E27FC236}">
                <a16:creationId xmlns:a16="http://schemas.microsoft.com/office/drawing/2014/main" id="{25834487-AFC7-4CB5-BE24-72E55088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4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-num-0">
            <a:extLst xmlns:a="http://schemas.openxmlformats.org/drawingml/2006/main">
              <a:ext uri="{FF2B5EF4-FFF2-40B4-BE49-F238E27FC236}">
                <a16:creationId xmlns:a16="http://schemas.microsoft.com/office/drawing/2014/main" id="{1D23C973-10F2-4948-9685-E183DC08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ec-title-0">
            <a:extLst xmlns:a="http://schemas.openxmlformats.org/drawingml/2006/main">
              <a:ext uri="{FF2B5EF4-FFF2-40B4-BE49-F238E27FC236}">
                <a16:creationId xmlns:a16="http://schemas.microsoft.com/office/drawing/2014/main" id="{0903B2FD-39D1-49B0-9EBB-97BC9E8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身份</a:t>
            </a:r>
          </a:p>
        </p:txBody>
      </p:sp>
      <p:sp>
        <p:nvSpPr>
          <p:cNvPr id="8" name="sec-body-0">
            <a:extLst xmlns:a="http://schemas.openxmlformats.org/drawingml/2006/main">
              <a:ext uri="{FF2B5EF4-FFF2-40B4-BE49-F238E27FC236}">
                <a16:creationId xmlns:a16="http://schemas.microsoft.com/office/drawing/2014/main" id="{FF407762-0A3C-405E-86C0-A2C4C700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BCrypt 12 轮</a:t>
            </a:r>
          </a:p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Redis 会话</a:t>
            </a:r>
          </a:p>
        </p:txBody>
      </p:sp>
      <p:sp>
        <p:nvSpPr>
          <p:cNvPr id="9" name="sec-dot-1">
            <a:extLst xmlns:a="http://schemas.openxmlformats.org/drawingml/2006/main">
              <a:ext uri="{FF2B5EF4-FFF2-40B4-BE49-F238E27FC236}">
                <a16:creationId xmlns:a16="http://schemas.microsoft.com/office/drawing/2014/main" id="{4291BF06-E679-4BBC-B597-D8A2370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05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-num-1">
            <a:extLst xmlns:a="http://schemas.openxmlformats.org/drawingml/2006/main">
              <a:ext uri="{FF2B5EF4-FFF2-40B4-BE49-F238E27FC236}">
                <a16:creationId xmlns:a16="http://schemas.microsoft.com/office/drawing/2014/main" id="{DA97720F-CADA-46D2-BC4E-E523A82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337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ec-title-1">
            <a:extLst xmlns:a="http://schemas.openxmlformats.org/drawingml/2006/main">
              <a:ext uri="{FF2B5EF4-FFF2-40B4-BE49-F238E27FC236}">
                <a16:creationId xmlns:a16="http://schemas.microsoft.com/office/drawing/2014/main" id="{0B5D7D7D-FE0B-4EBC-A29D-53EAC7C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90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请求</a:t>
            </a:r>
          </a:p>
        </p:txBody>
      </p:sp>
      <p:sp>
        <p:nvSpPr>
          <p:cNvPr id="12" name="sec-body-1">
            <a:extLst xmlns:a="http://schemas.openxmlformats.org/drawingml/2006/main">
              <a:ext uri="{FF2B5EF4-FFF2-40B4-BE49-F238E27FC236}">
                <a16:creationId xmlns:a16="http://schemas.microsoft.com/office/drawing/2014/main" id="{507A5264-7A69-4493-BA94-EAE7FB15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7147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HttpOnly Cookie</a:t>
            </a:r>
          </a:p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CSRF Token</a:t>
            </a:r>
          </a:p>
        </p:txBody>
      </p:sp>
      <p:sp>
        <p:nvSpPr>
          <p:cNvPr id="13" name="sec-dot-2">
            <a:extLst xmlns:a="http://schemas.openxmlformats.org/drawingml/2006/main">
              <a:ext uri="{FF2B5EF4-FFF2-40B4-BE49-F238E27FC236}">
                <a16:creationId xmlns:a16="http://schemas.microsoft.com/office/drawing/2014/main" id="{B6F92B9F-870C-41E0-BCF4-985BC9D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05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-num-2">
            <a:extLst xmlns:a="http://schemas.openxmlformats.org/drawingml/2006/main">
              <a:ext uri="{FF2B5EF4-FFF2-40B4-BE49-F238E27FC236}">
                <a16:creationId xmlns:a16="http://schemas.microsoft.com/office/drawing/2014/main" id="{58CDD298-A8F9-464F-B2EF-CFA5FCCD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337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ec-title-2">
            <a:extLst xmlns:a="http://schemas.openxmlformats.org/drawingml/2006/main">
              <a:ext uri="{FF2B5EF4-FFF2-40B4-BE49-F238E27FC236}">
                <a16:creationId xmlns:a16="http://schemas.microsoft.com/office/drawing/2014/main" id="{7E8C19C6-D0E5-49F4-AB5E-A694B16A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权限</a:t>
            </a:r>
          </a:p>
        </p:txBody>
      </p:sp>
      <p:sp>
        <p:nvSpPr>
          <p:cNvPr id="16" name="sec-body-2">
            <a:extLst xmlns:a="http://schemas.openxmlformats.org/drawingml/2006/main">
              <a:ext uri="{FF2B5EF4-FFF2-40B4-BE49-F238E27FC236}">
                <a16:creationId xmlns:a16="http://schemas.microsoft.com/office/drawing/2014/main" id="{F2199579-8F61-469A-894B-DD18870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USER / ADMIN</a:t>
            </a:r>
          </a:p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接口级授权</a:t>
            </a:r>
          </a:p>
        </p:txBody>
      </p:sp>
      <p:sp>
        <p:nvSpPr>
          <p:cNvPr id="17" name="sec-dot-3">
            <a:extLst xmlns:a="http://schemas.openxmlformats.org/drawingml/2006/main">
              <a:ext uri="{FF2B5EF4-FFF2-40B4-BE49-F238E27FC236}">
                <a16:creationId xmlns:a16="http://schemas.microsoft.com/office/drawing/2014/main" id="{11FFF373-4FB3-44EE-9BB1-6D48756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05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-num-3">
            <a:extLst xmlns:a="http://schemas.openxmlformats.org/drawingml/2006/main">
              <a:ext uri="{FF2B5EF4-FFF2-40B4-BE49-F238E27FC236}">
                <a16:creationId xmlns:a16="http://schemas.microsoft.com/office/drawing/2014/main" id="{49158932-D198-41D2-AA0D-B328049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337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sec-title-3">
            <a:extLst xmlns:a="http://schemas.openxmlformats.org/drawingml/2006/main">
              <a:ext uri="{FF2B5EF4-FFF2-40B4-BE49-F238E27FC236}">
                <a16:creationId xmlns:a16="http://schemas.microsoft.com/office/drawing/2014/main" id="{123F67FB-AD14-4B7F-BDD2-E6D53414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90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内容</a:t>
            </a:r>
          </a:p>
        </p:txBody>
      </p:sp>
      <p:sp>
        <p:nvSpPr>
          <p:cNvPr id="20" name="sec-body-3">
            <a:extLst xmlns:a="http://schemas.openxmlformats.org/drawingml/2006/main">
              <a:ext uri="{FF2B5EF4-FFF2-40B4-BE49-F238E27FC236}">
                <a16:creationId xmlns:a16="http://schemas.microsoft.com/office/drawing/2014/main" id="{8935892E-11DF-47A8-8849-D3BB8901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7147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参数校验</a:t>
            </a:r>
          </a:p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Jsoup 白名单</a:t>
            </a:r>
          </a:p>
        </p:txBody>
      </p:sp>
      <p:sp>
        <p:nvSpPr>
          <p:cNvPr id="21" name="sec-dot-4">
            <a:extLst xmlns:a="http://schemas.openxmlformats.org/drawingml/2006/main">
              <a:ext uri="{FF2B5EF4-FFF2-40B4-BE49-F238E27FC236}">
                <a16:creationId xmlns:a16="http://schemas.microsoft.com/office/drawing/2014/main" id="{68CDE4E5-BE07-4322-B54B-062F7BC5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c-num-4">
            <a:extLst xmlns:a="http://schemas.openxmlformats.org/drawingml/2006/main">
              <a:ext uri="{FF2B5EF4-FFF2-40B4-BE49-F238E27FC236}">
                <a16:creationId xmlns:a16="http://schemas.microsoft.com/office/drawing/2014/main" id="{2570E650-460C-49F6-AB2F-4EEAAC5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337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sec-title-4">
            <a:extLst xmlns:a="http://schemas.openxmlformats.org/drawingml/2006/main">
              <a:ext uri="{FF2B5EF4-FFF2-40B4-BE49-F238E27FC236}">
                <a16:creationId xmlns:a16="http://schemas.microsoft.com/office/drawing/2014/main" id="{834BE4E2-36C1-4D03-A783-AEACD1E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文件</a:t>
            </a:r>
          </a:p>
        </p:txBody>
      </p:sp>
      <p:sp>
        <p:nvSpPr>
          <p:cNvPr id="24" name="sec-body-4">
            <a:extLst xmlns:a="http://schemas.openxmlformats.org/drawingml/2006/main">
              <a:ext uri="{FF2B5EF4-FFF2-40B4-BE49-F238E27FC236}">
                <a16:creationId xmlns:a16="http://schemas.microsoft.com/office/drawing/2014/main" id="{3C65679E-18C0-4760-B421-BF646FA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147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5MB 上限</a:t>
            </a:r>
          </a:p>
          <a:p xmlns:a="http://schemas.openxmlformats.org/drawingml/2006/main">
            <a:pPr algn="l">
              <a:defRPr sz="13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文件头魔数校验</a:t>
            </a:r>
          </a:p>
        </p:txBody>
      </p:sp>
      <p:sp>
        <p:nvSpPr>
          <p:cNvPr id="25" name="security-result">
            <a:extLst xmlns:a="http://schemas.openxmlformats.org/drawingml/2006/main">
              <a:ext uri="{FF2B5EF4-FFF2-40B4-BE49-F238E27FC236}">
                <a16:creationId xmlns:a16="http://schemas.microsoft.com/office/drawing/2014/main" id="{143FE4EE-E811-40E5-8DD5-A426E82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curity-result-text">
            <a:extLst xmlns:a="http://schemas.openxmlformats.org/drawingml/2006/main">
              <a:ext uri="{FF2B5EF4-FFF2-40B4-BE49-F238E27FC236}">
                <a16:creationId xmlns:a16="http://schemas.microsoft.com/office/drawing/2014/main" id="{4732A8FD-DBA3-4300-B260-58AF31C6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结果：越权被拒绝、脚本被清洗、伪装图片被拦截、频繁登录触发 429。</a:t>
            </a:r>
          </a:p>
        </p:txBody>
      </p:sp>
    </p:spTree>
    <p:extLst>
      <p:ext uri="{BB962C8B-B14F-4D97-AF65-F5344CB8AC3E}">
        <p14:creationId xmlns:p14="http://schemas.microsoft.com/office/powerpoint/2010/main" val="1447891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6">
            <a:extLst xmlns:a="http://schemas.openxmlformats.org/drawingml/2006/main">
              <a:ext uri="{FF2B5EF4-FFF2-40B4-BE49-F238E27FC236}">
                <a16:creationId xmlns:a16="http://schemas.microsoft.com/office/drawing/2014/main" id="{675DA15A-406F-40FA-8899-3F8C8320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REAL BROWSER EVIDENCE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825A3CB-2A85-4B37-8FC2-D3E07D2A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公开端把阅读放在第一位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EC273F4D-F9B5-443D-881E-7C1F818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public-ui-back">
            <a:extLst xmlns:a="http://schemas.openxmlformats.org/drawingml/2006/main">
              <a:ext uri="{FF2B5EF4-FFF2-40B4-BE49-F238E27FC236}">
                <a16:creationId xmlns:a16="http://schemas.microsoft.com/office/drawing/2014/main" id="{975ABF2C-AFBD-4D00-84E4-BAE17EAA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57325"/>
            <a:ext cx="661987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0d49af24943cd"/>
          <a:srcRect xmlns:a="http://schemas.openxmlformats.org/drawingml/2006/main" l="0" t="38295" r="0" b="38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1466850"/>
            <a:ext cx="6600825" cy="4705350"/>
          </a:xfrm>
          <a:prstGeom xmlns:a="http://schemas.openxmlformats.org/drawingml/2006/main" prst="rect">
            <a:avLst/>
          </a:prstGeom>
        </p:spPr>
      </p:pic>
      <p:sp>
        <p:nvSpPr>
          <p:cNvPr id="6" name="public-claim">
            <a:extLst xmlns:a="http://schemas.openxmlformats.org/drawingml/2006/main">
              <a:ext uri="{FF2B5EF4-FFF2-40B4-BE49-F238E27FC236}">
                <a16:creationId xmlns:a16="http://schemas.microsoft.com/office/drawing/2014/main" id="{D6585F9B-87A8-4152-A282-061043D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暖白内容底</a:t>
            </a:r>
          </a:p>
          <a:p xmlns:a="http://schemas.openxmlformats.org/drawingml/2006/main">
            <a:pPr algn="l">
              <a:defRPr sz="23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深墨导航</a:t>
            </a:r>
          </a:p>
          <a:p xmlns:a="http://schemas.openxmlformats.org/drawingml/2006/main">
            <a:pPr algn="l">
              <a:defRPr sz="23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克制琥珀强调</a:t>
            </a:r>
          </a:p>
        </p:txBody>
      </p:sp>
      <p:sp>
        <p:nvSpPr>
          <p:cNvPr id="7" name="public-body">
            <a:extLst xmlns:a="http://schemas.openxmlformats.org/drawingml/2006/main">
              <a:ext uri="{FF2B5EF4-FFF2-40B4-BE49-F238E27FC236}">
                <a16:creationId xmlns:a16="http://schemas.microsoft.com/office/drawing/2014/main" id="{9B0E2801-3105-4605-8E4E-9F45E88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响应式覆盖 1440 / 768 / 390px；支持深浅主题、键盘跳转、200% 重排和 reduced-motion。</a:t>
            </a:r>
          </a:p>
        </p:txBody>
      </p:sp>
      <p:sp>
        <p:nvSpPr>
          <p:cNvPr id="8" name="public-note">
            <a:extLst xmlns:a="http://schemas.openxmlformats.org/drawingml/2006/main">
              <a:ext uri="{FF2B5EF4-FFF2-40B4-BE49-F238E27FC236}">
                <a16:creationId xmlns:a16="http://schemas.microsoft.com/office/drawing/2014/main" id="{50AF2F13-7A6F-42CC-B059-C0E7560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6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6B4A"/>
                </a:solidFill>
                <a:latin typeface="Arial"/>
                <a:ea typeface="Arial"/>
                <a:cs typeface="Arial"/>
              </a:rPr>
              <a:t>截图来自本地 Docker 全栈环境，不是设计稿。</a:t>
            </a:r>
          </a:p>
        </p:txBody>
      </p:sp>
    </p:spTree>
    <p:extLst>
      <p:ext uri="{BB962C8B-B14F-4D97-AF65-F5344CB8AC3E}">
        <p14:creationId xmlns:p14="http://schemas.microsoft.com/office/powerpoint/2010/main" val="1583237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7">
            <a:extLst xmlns:a="http://schemas.openxmlformats.org/drawingml/2006/main">
              <a:ext uri="{FF2B5EF4-FFF2-40B4-BE49-F238E27FC236}">
                <a16:creationId xmlns:a16="http://schemas.microsoft.com/office/drawing/2014/main" id="{00A299A9-DB16-442B-A314-F91F4BA3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ADMIN EXPERIENCE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14A6DBA-B291-4E1B-A387-9FF202E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后台把创作与治理放进同一个工作台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0A6B6366-56DE-4EA7-B1A7-6040079D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admin-ui-back">
            <a:extLst xmlns:a="http://schemas.openxmlformats.org/drawingml/2006/main">
              <a:ext uri="{FF2B5EF4-FFF2-40B4-BE49-F238E27FC236}">
                <a16:creationId xmlns:a16="http://schemas.microsoft.com/office/drawing/2014/main" id="{BAA51CFB-EF7E-4F4E-829D-5D52337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52575"/>
            <a:ext cx="72580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9803c63454a61"/>
          <a:stretch xmlns:a="http://schemas.openxmlformats.org/drawingml/2006/main"/>
        </p:blipFill>
        <p:spPr>
          <a:xfrm xmlns:a="http://schemas.openxmlformats.org/drawingml/2006/main">
            <a:off x="768858" y="1562100"/>
            <a:ext cx="6501384" cy="4514850"/>
          </a:xfrm>
          <a:prstGeom xmlns:a="http://schemas.openxmlformats.org/drawingml/2006/main" prst="rect">
            <a:avLst/>
          </a:prstGeom>
        </p:spPr>
      </p:pic>
      <p:sp>
        <p:nvSpPr>
          <p:cNvPr id="6" name="n-1-190">
            <a:extLst xmlns:a="http://schemas.openxmlformats.org/drawingml/2006/main">
              <a:ext uri="{FF2B5EF4-FFF2-40B4-BE49-F238E27FC236}">
                <a16:creationId xmlns:a16="http://schemas.microsoft.com/office/drawing/2014/main" id="{1023AB20-255A-46A2-A2B3-D1AA2A50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bt-1-190">
            <a:extLst xmlns:a="http://schemas.openxmlformats.org/drawingml/2006/main">
              <a:ext uri="{FF2B5EF4-FFF2-40B4-BE49-F238E27FC236}">
                <a16:creationId xmlns:a16="http://schemas.microsoft.com/office/drawing/2014/main" id="{58A30B58-0986-4B29-A153-60897E17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创作</a:t>
            </a:r>
          </a:p>
        </p:txBody>
      </p:sp>
      <p:sp>
        <p:nvSpPr>
          <p:cNvPr id="8" name="bb-1-190">
            <a:extLst xmlns:a="http://schemas.openxmlformats.org/drawingml/2006/main">
              <a:ext uri="{FF2B5EF4-FFF2-40B4-BE49-F238E27FC236}">
                <a16:creationId xmlns:a16="http://schemas.microsoft.com/office/drawing/2014/main" id="{CF4A99A6-10CF-40D3-B7AA-DBDADCC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富文本、封面、预览、字数、自动保存与错误恢复。</a:t>
            </a:r>
          </a:p>
        </p:txBody>
      </p:sp>
      <p:sp>
        <p:nvSpPr>
          <p:cNvPr id="9" name="n-2-350">
            <a:extLst xmlns:a="http://schemas.openxmlformats.org/drawingml/2006/main">
              <a:ext uri="{FF2B5EF4-FFF2-40B4-BE49-F238E27FC236}">
                <a16:creationId xmlns:a16="http://schemas.microsoft.com/office/drawing/2014/main" id="{E9F6193F-444C-4044-A7FF-F2EF6DC7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bt-2-350">
            <a:extLst xmlns:a="http://schemas.openxmlformats.org/drawingml/2006/main">
              <a:ext uri="{FF2B5EF4-FFF2-40B4-BE49-F238E27FC236}">
                <a16:creationId xmlns:a16="http://schemas.microsoft.com/office/drawing/2014/main" id="{257E51E6-3952-4405-9644-720B1529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治理</a:t>
            </a:r>
          </a:p>
        </p:txBody>
      </p:sp>
      <p:sp>
        <p:nvSpPr>
          <p:cNvPr id="11" name="bb-2-350">
            <a:extLst xmlns:a="http://schemas.openxmlformats.org/drawingml/2006/main">
              <a:ext uri="{FF2B5EF4-FFF2-40B4-BE49-F238E27FC236}">
                <a16:creationId xmlns:a16="http://schemas.microsoft.com/office/drawing/2014/main" id="{B894F1C1-5FEF-4B7E-9030-85C5BC7F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评论和留言审核，用户状态、分类和媒体统一管理。</a:t>
            </a:r>
          </a:p>
        </p:txBody>
      </p:sp>
      <p:sp>
        <p:nvSpPr>
          <p:cNvPr id="12" name="n-3-510">
            <a:extLst xmlns:a="http://schemas.openxmlformats.org/drawingml/2006/main">
              <a:ext uri="{FF2B5EF4-FFF2-40B4-BE49-F238E27FC236}">
                <a16:creationId xmlns:a16="http://schemas.microsoft.com/office/drawing/2014/main" id="{BAC7BF1E-6B3B-4059-92D2-D0A889DC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bt-3-510">
            <a:extLst xmlns:a="http://schemas.openxmlformats.org/drawingml/2006/main">
              <a:ext uri="{FF2B5EF4-FFF2-40B4-BE49-F238E27FC236}">
                <a16:creationId xmlns:a16="http://schemas.microsoft.com/office/drawing/2014/main" id="{C1668DE1-B931-4717-B99F-138E4633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追踪</a:t>
            </a:r>
          </a:p>
        </p:txBody>
      </p:sp>
      <p:sp>
        <p:nvSpPr>
          <p:cNvPr id="14" name="bb-3-510">
            <a:extLst xmlns:a="http://schemas.openxmlformats.org/drawingml/2006/main">
              <a:ext uri="{FF2B5EF4-FFF2-40B4-BE49-F238E27FC236}">
                <a16:creationId xmlns:a16="http://schemas.microsoft.com/office/drawing/2014/main" id="{546D1662-492D-45C3-96CD-D053EF62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578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关键管理动作写入审计记录，失败返回中文恢复路径。</a:t>
            </a:r>
          </a:p>
        </p:txBody>
      </p:sp>
    </p:spTree>
    <p:extLst>
      <p:ext uri="{BB962C8B-B14F-4D97-AF65-F5344CB8AC3E}">
        <p14:creationId xmlns:p14="http://schemas.microsoft.com/office/powerpoint/2010/main" val="1589616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8">
            <a:extLst xmlns:a="http://schemas.openxmlformats.org/drawingml/2006/main">
              <a:ext uri="{FF2B5EF4-FFF2-40B4-BE49-F238E27FC236}">
                <a16:creationId xmlns:a16="http://schemas.microsoft.com/office/drawing/2014/main" id="{D5CE13D0-3356-45AA-B2A3-9608E956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TEST &amp; ACCEPTANCE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69B515B-D057-4940-9ABB-0B8A086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完成标准由可复现证据定义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BCB22409-4064-4A9A-B378-65503774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metric-lead">
            <a:extLst xmlns:a="http://schemas.openxmlformats.org/drawingml/2006/main">
              <a:ext uri="{FF2B5EF4-FFF2-40B4-BE49-F238E27FC236}">
                <a16:creationId xmlns:a16="http://schemas.microsoft.com/office/drawing/2014/main" id="{72965B85-D2A8-4909-BE67-D5A45DCE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静态检查、容器联通、真实浏览器和恢复演练分别回答不同风险，不能互相替代。</a:t>
            </a:r>
          </a:p>
        </p:txBody>
      </p:sp>
      <p:sp>
        <p:nvSpPr>
          <p:cNvPr id="5" name="metric-0">
            <a:extLst xmlns:a="http://schemas.openxmlformats.org/drawingml/2006/main">
              <a:ext uri="{FF2B5EF4-FFF2-40B4-BE49-F238E27FC236}">
                <a16:creationId xmlns:a16="http://schemas.microsoft.com/office/drawing/2014/main" id="{FD7DC9F7-706F-4FFE-B7DF-1C1B0426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-0">
            <a:extLst xmlns:a="http://schemas.openxmlformats.org/drawingml/2006/main">
              <a:ext uri="{FF2B5EF4-FFF2-40B4-BE49-F238E27FC236}">
                <a16:creationId xmlns:a16="http://schemas.microsoft.com/office/drawing/2014/main" id="{F968FF8A-5A7F-4C94-8165-8F8B036D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21 / 21</a:t>
            </a:r>
          </a:p>
        </p:txBody>
      </p:sp>
      <p:sp>
        <p:nvSpPr>
          <p:cNvPr id="7" name="metric-b-0">
            <a:extLst xmlns:a="http://schemas.openxmlformats.org/drawingml/2006/main">
              <a:ext uri="{FF2B5EF4-FFF2-40B4-BE49-F238E27FC236}">
                <a16:creationId xmlns:a16="http://schemas.microsoft.com/office/drawing/2014/main" id="{76664976-1DE2-49BE-807F-F0E91460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三视口真实浏览器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业务路径与 WCAG 扫描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F2151CAE-0082-4DAB-9DD6-178C97FC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289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-1">
            <a:extLst xmlns:a="http://schemas.openxmlformats.org/drawingml/2006/main">
              <a:ext uri="{FF2B5EF4-FFF2-40B4-BE49-F238E27FC236}">
                <a16:creationId xmlns:a16="http://schemas.microsoft.com/office/drawing/2014/main" id="{3AF9589F-1D09-4FF4-A862-7B3CC52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76AA1423-3C59-4F1B-B4DE-7DA54B2A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Nginx / Spring Boot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MySQL / Redis / 上传卷健康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82B893DB-5EFB-418F-A09D-54134C45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-2">
            <a:extLst xmlns:a="http://schemas.openxmlformats.org/drawingml/2006/main">
              <a:ext uri="{FF2B5EF4-FFF2-40B4-BE49-F238E27FC236}">
                <a16:creationId xmlns:a16="http://schemas.microsoft.com/office/drawing/2014/main" id="{4AA95DC5-4166-45C4-9CA5-438581BD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8 张表</a:t>
            </a:r>
          </a:p>
        </p:txBody>
      </p:sp>
      <p:sp>
        <p:nvSpPr>
          <p:cNvPr id="13" name="metric-b-2">
            <a:extLst xmlns:a="http://schemas.openxmlformats.org/drawingml/2006/main">
              <a:ext uri="{FF2B5EF4-FFF2-40B4-BE49-F238E27FC236}">
                <a16:creationId xmlns:a16="http://schemas.microsoft.com/office/drawing/2014/main" id="{379048CD-5219-4C51-A2C7-D269EB34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备份恢复到隔离库</a:t>
            </a:r>
          </a:p>
          <a:p xmlns:a="http://schemas.openxmlformats.org/drawingml/2006/main">
            <a:pPr algn="l">
              <a:defRPr sz="142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文章与用户计数一致</a:t>
            </a:r>
          </a:p>
        </p:txBody>
      </p:sp>
      <p:sp>
        <p:nvSpPr>
          <p:cNvPr id="14" name="metric-foot">
            <a:extLst xmlns:a="http://schemas.openxmlformats.org/drawingml/2006/main">
              <a:ext uri="{FF2B5EF4-FFF2-40B4-BE49-F238E27FC236}">
                <a16:creationId xmlns:a16="http://schemas.microsoft.com/office/drawing/2014/main" id="{691DEB7D-570A-465C-9DF8-ABC3D45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B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B4A"/>
                </a:solidFill>
                <a:latin typeface="Arial"/>
                <a:ea typeface="Arial"/>
                <a:cs typeface="Arial"/>
              </a:rPr>
              <a:t>另有：后端 4 项单测、前端 lint / 类型 / 组件 / 构建全部通过。</a:t>
            </a:r>
          </a:p>
        </p:txBody>
      </p:sp>
    </p:spTree>
    <p:extLst>
      <p:ext uri="{BB962C8B-B14F-4D97-AF65-F5344CB8AC3E}">
        <p14:creationId xmlns:p14="http://schemas.microsoft.com/office/powerpoint/2010/main" val="1385582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9">
            <a:extLst xmlns:a="http://schemas.openxmlformats.org/drawingml/2006/main">
              <a:ext uri="{FF2B5EF4-FFF2-40B4-BE49-F238E27FC236}">
                <a16:creationId xmlns:a16="http://schemas.microsoft.com/office/drawing/2014/main" id="{500BABD9-749A-47F6-82B1-BF80384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ENGINEERING LOOP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81C9174-93A8-41B6-89E4-22A09B2F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交付循环直到真实缺陷被关闭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CAA52FC6-BCA3-4E52-853F-FF670C96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34" name="loop-line"/>
          <p:cNvCxnSpPr/>
          <p:nvPr/>
        </p:nvCxnSpPr>
        <p:spPr>
          <a:xfrm xmlns:a="http://schemas.openxmlformats.org/drawingml/2006/main">
            <a:off x="666750" y="31432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2"/>
            </a:solidFill>
            <a:prstDash val="solid"/>
          </a:ln>
        </p:spPr>
      </p:cxnSp>
      <p:sp>
        <p:nvSpPr>
          <p:cNvPr id="5" name="loop-dot-0">
            <a:extLst xmlns:a="http://schemas.openxmlformats.org/drawingml/2006/main">
              <a:ext uri="{FF2B5EF4-FFF2-40B4-BE49-F238E27FC236}">
                <a16:creationId xmlns:a16="http://schemas.microsoft.com/office/drawing/2014/main" id="{251FD4AC-E3E0-47E2-AE77-AAEEE936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num-0">
            <a:extLst xmlns:a="http://schemas.openxmlformats.org/drawingml/2006/main">
              <a:ext uri="{FF2B5EF4-FFF2-40B4-BE49-F238E27FC236}">
                <a16:creationId xmlns:a16="http://schemas.microsoft.com/office/drawing/2014/main" id="{7ACEF1D5-0DDA-445F-9B93-4EABBEE2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0FB85E3A-1104-4799-A488-EC0261C1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8" name="loop-body-0">
            <a:extLst xmlns:a="http://schemas.openxmlformats.org/drawingml/2006/main">
              <a:ext uri="{FF2B5EF4-FFF2-40B4-BE49-F238E27FC236}">
                <a16:creationId xmlns:a16="http://schemas.microsoft.com/office/drawing/2014/main" id="{82CB5865-A7B2-4B30-AFD4-2EDDFA83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接口、界面、迁移</a:t>
            </a:r>
          </a:p>
        </p:txBody>
      </p:sp>
      <p:sp>
        <p:nvSpPr>
          <p:cNvPr id="9" name="loop-dot-1">
            <a:extLst xmlns:a="http://schemas.openxmlformats.org/drawingml/2006/main">
              <a:ext uri="{FF2B5EF4-FFF2-40B4-BE49-F238E27FC236}">
                <a16:creationId xmlns:a16="http://schemas.microsoft.com/office/drawing/2014/main" id="{FD1D5724-9186-4828-8E74-0E931E4F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09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um-1">
            <a:extLst xmlns:a="http://schemas.openxmlformats.org/drawingml/2006/main">
              <a:ext uri="{FF2B5EF4-FFF2-40B4-BE49-F238E27FC236}">
                <a16:creationId xmlns:a16="http://schemas.microsoft.com/office/drawing/2014/main" id="{F574042A-E0A3-41DF-BD37-3020F6E3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73363668-8CA9-4FDE-AD79-506CDAEF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2" name="loop-body-1">
            <a:extLst xmlns:a="http://schemas.openxmlformats.org/drawingml/2006/main">
              <a:ext uri="{FF2B5EF4-FFF2-40B4-BE49-F238E27FC236}">
                <a16:creationId xmlns:a16="http://schemas.microsoft.com/office/drawing/2014/main" id="{AE03B651-D5B3-47A2-8745-DE3D8D88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004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单测与静态检查</a:t>
            </a:r>
          </a:p>
        </p:txBody>
      </p:sp>
      <p:sp>
        <p:nvSpPr>
          <p:cNvPr id="13" name="loop-dot-2">
            <a:extLst xmlns:a="http://schemas.openxmlformats.org/drawingml/2006/main">
              <a:ext uri="{FF2B5EF4-FFF2-40B4-BE49-F238E27FC236}">
                <a16:creationId xmlns:a16="http://schemas.microsoft.com/office/drawing/2014/main" id="{9D949593-3F06-4D07-8787-ABA0716A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num-2">
            <a:extLst xmlns:a="http://schemas.openxmlformats.org/drawingml/2006/main">
              <a:ext uri="{FF2B5EF4-FFF2-40B4-BE49-F238E27FC236}">
                <a16:creationId xmlns:a16="http://schemas.microsoft.com/office/drawing/2014/main" id="{1D424412-042E-4A0A-9D1D-ABD72915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A79D9303-7B1D-4367-BFF3-8E376379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联调</a:t>
            </a:r>
          </a:p>
        </p:txBody>
      </p:sp>
      <p:sp>
        <p:nvSpPr>
          <p:cNvPr id="16" name="loop-body-2">
            <a:extLst xmlns:a="http://schemas.openxmlformats.org/drawingml/2006/main">
              <a:ext uri="{FF2B5EF4-FFF2-40B4-BE49-F238E27FC236}">
                <a16:creationId xmlns:a16="http://schemas.microsoft.com/office/drawing/2014/main" id="{CE37B997-0088-4FB5-A061-76FED95C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04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Docker 全服务</a:t>
            </a:r>
          </a:p>
        </p:txBody>
      </p:sp>
      <p:sp>
        <p:nvSpPr>
          <p:cNvPr id="17" name="loop-dot-3">
            <a:extLst xmlns:a="http://schemas.openxmlformats.org/drawingml/2006/main">
              <a:ext uri="{FF2B5EF4-FFF2-40B4-BE49-F238E27FC236}">
                <a16:creationId xmlns:a16="http://schemas.microsoft.com/office/drawing/2014/main" id="{0CABB85E-B2A7-4027-928C-F55AF17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9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num-3">
            <a:extLst xmlns:a="http://schemas.openxmlformats.org/drawingml/2006/main">
              <a:ext uri="{FF2B5EF4-FFF2-40B4-BE49-F238E27FC236}">
                <a16:creationId xmlns:a16="http://schemas.microsoft.com/office/drawing/2014/main" id="{B8A6228B-B8C5-4CDD-BF03-01A289B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89847CA1-FBCA-4BE9-B202-A11DE17A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20" name="loop-body-3">
            <a:extLst xmlns:a="http://schemas.openxmlformats.org/drawingml/2006/main">
              <a:ext uri="{FF2B5EF4-FFF2-40B4-BE49-F238E27FC236}">
                <a16:creationId xmlns:a16="http://schemas.microsoft.com/office/drawing/2014/main" id="{D7089882-85E2-4332-9E3A-407DF07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004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真实浏览器路径</a:t>
            </a:r>
          </a:p>
        </p:txBody>
      </p:sp>
      <p:sp>
        <p:nvSpPr>
          <p:cNvPr id="21" name="loop-dot-4">
            <a:extLst xmlns:a="http://schemas.openxmlformats.org/drawingml/2006/main">
              <a:ext uri="{FF2B5EF4-FFF2-40B4-BE49-F238E27FC236}">
                <a16:creationId xmlns:a16="http://schemas.microsoft.com/office/drawing/2014/main" id="{84D77C49-762D-4225-BFDA-C8C542A2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4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num-4">
            <a:extLst xmlns:a="http://schemas.openxmlformats.org/drawingml/2006/main">
              <a:ext uri="{FF2B5EF4-FFF2-40B4-BE49-F238E27FC236}">
                <a16:creationId xmlns:a16="http://schemas.microsoft.com/office/drawing/2014/main" id="{EC4D4AFD-D2F7-42AB-BEE7-72671E7D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41A9F48C-2651-4ABC-9014-81C99F81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" name="loop-body-4">
            <a:extLst xmlns:a="http://schemas.openxmlformats.org/drawingml/2006/main">
              <a:ext uri="{FF2B5EF4-FFF2-40B4-BE49-F238E27FC236}">
                <a16:creationId xmlns:a16="http://schemas.microsoft.com/office/drawing/2014/main" id="{05018267-4FF3-43A4-B229-FDF98EE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媒体代理等缺陷</a:t>
            </a:r>
          </a:p>
        </p:txBody>
      </p:sp>
      <p:sp>
        <p:nvSpPr>
          <p:cNvPr id="25" name="loop-dot-5">
            <a:extLst xmlns:a="http://schemas.openxmlformats.org/drawingml/2006/main">
              <a:ext uri="{FF2B5EF4-FFF2-40B4-BE49-F238E27FC236}">
                <a16:creationId xmlns:a16="http://schemas.microsoft.com/office/drawing/2014/main" id="{BC7A9794-0E1F-4702-BDE7-40CCE793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09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oop-num-5">
            <a:extLst xmlns:a="http://schemas.openxmlformats.org/drawingml/2006/main">
              <a:ext uri="{FF2B5EF4-FFF2-40B4-BE49-F238E27FC236}">
                <a16:creationId xmlns:a16="http://schemas.microsoft.com/office/drawing/2014/main" id="{22074A10-6E70-48A3-93F4-6276234A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384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loop-title-5">
            <a:extLst xmlns:a="http://schemas.openxmlformats.org/drawingml/2006/main">
              <a:ext uri="{FF2B5EF4-FFF2-40B4-BE49-F238E27FC236}">
                <a16:creationId xmlns:a16="http://schemas.microsoft.com/office/drawing/2014/main" id="{82F50A53-7901-4D4C-8F85-E9281960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再验证</a:t>
            </a:r>
          </a:p>
        </p:txBody>
      </p:sp>
      <p:sp>
        <p:nvSpPr>
          <p:cNvPr id="28" name="loop-body-5">
            <a:extLst xmlns:a="http://schemas.openxmlformats.org/drawingml/2006/main">
              <a:ext uri="{FF2B5EF4-FFF2-40B4-BE49-F238E27FC236}">
                <a16:creationId xmlns:a16="http://schemas.microsoft.com/office/drawing/2014/main" id="{132049D3-22D5-44FE-8944-05A7B5A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6004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重启与恢复</a:t>
            </a:r>
          </a:p>
        </p:txBody>
      </p:sp>
      <p:sp>
        <p:nvSpPr>
          <p:cNvPr id="29" name="loop-callout">
            <a:extLst xmlns:a="http://schemas.openxmlformats.org/drawingml/2006/main">
              <a:ext uri="{FF2B5EF4-FFF2-40B4-BE49-F238E27FC236}">
                <a16:creationId xmlns:a16="http://schemas.microsoft.com/office/drawing/2014/main" id="{CFADB2B9-20FF-4224-A5CF-A092E37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oop-callout-text">
            <a:extLst xmlns:a="http://schemas.openxmlformats.org/drawingml/2006/main">
              <a:ext uri="{FF2B5EF4-FFF2-40B4-BE49-F238E27FC236}">
                <a16:creationId xmlns:a16="http://schemas.microsoft.com/office/drawing/2014/main" id="{87E5D062-FE82-4365-96A8-EA505FE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例：上传接口成功但公开 URL 404 → 定位 Nginx 正则优先级 → 修复 ^~ /media/ → 重启后 13,057 字节一致。</a:t>
            </a:r>
          </a:p>
        </p:txBody>
      </p:sp>
    </p:spTree>
    <p:extLst>
      <p:ext uri="{BB962C8B-B14F-4D97-AF65-F5344CB8AC3E}">
        <p14:creationId xmlns:p14="http://schemas.microsoft.com/office/powerpoint/2010/main" val="1882741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304BA1C-BF4A-4A5F-8F00-F0EC5BC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DELIVERY COMPLETE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F4F3E5B-4AF6-4929-89F7-525175FA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从源码到证据，</a:t>
            </a:r>
          </a:p>
          <a:p xmlns:a="http://schemas.openxmlformats.org/drawingml/2006/main">
            <a:pPr algn="l">
              <a:defRPr sz="4200" b="1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312"/>
                </a:solidFill>
                <a:latin typeface="Arial"/>
                <a:ea typeface="Arial"/>
                <a:cs typeface="Arial"/>
              </a:rPr>
              <a:t>已经形成可复现交付。</a:t>
            </a:r>
          </a:p>
        </p:txBody>
      </p:sp>
      <p:sp>
        <p:nvSpPr>
          <p:cNvPr id="3" name="close-left">
            <a:extLst xmlns:a="http://schemas.openxmlformats.org/drawingml/2006/main">
              <a:ext uri="{FF2B5EF4-FFF2-40B4-BE49-F238E27FC236}">
                <a16:creationId xmlns:a16="http://schemas.microsoft.com/office/drawing/2014/main" id="{0F1E913E-B54E-418B-84B8-64A9A65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公开 GitHub 仓库</a:t>
            </a:r>
          </a:p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完整前后端与 SQL</a:t>
            </a:r>
          </a:p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Docker 一键部署</a:t>
            </a:r>
          </a:p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可执行 WAR</a:t>
            </a:r>
          </a:p>
        </p:txBody>
      </p:sp>
      <p:sp>
        <p:nvSpPr>
          <p:cNvPr id="4" name="close-right">
            <a:extLst xmlns:a="http://schemas.openxmlformats.org/drawingml/2006/main">
              <a:ext uri="{FF2B5EF4-FFF2-40B4-BE49-F238E27FC236}">
                <a16:creationId xmlns:a16="http://schemas.microsoft.com/office/drawing/2014/main" id="{BA004E4D-B20E-4979-BE8B-7DB9ACAC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中文需求 / 架构 / API / 运维</a:t>
            </a:r>
          </a:p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真实浏览器截图与测试报告</a:t>
            </a:r>
          </a:p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答辩 PPT</a:t>
            </a:r>
          </a:p>
          <a:p xmlns:a="http://schemas.openxmlformats.org/drawingml/2006/main">
            <a:pPr algn="l">
              <a:defRPr sz="1650" b="0">
                <a:solidFill>
                  <a:srgbClr val="1113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2"/>
                </a:solidFill>
                <a:latin typeface="Arial"/>
                <a:ea typeface="Arial"/>
                <a:cs typeface="Arial"/>
              </a:rPr>
              <a:t>5 分钟内演示视频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605402A2-FF4B-4D19-BF4B-3EB310EF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url">
            <a:extLst xmlns:a="http://schemas.openxmlformats.org/drawingml/2006/main">
              <a:ext uri="{FF2B5EF4-FFF2-40B4-BE49-F238E27FC236}">
                <a16:creationId xmlns:a16="http://schemas.microsoft.com/office/drawing/2014/main" id="{C3B96EBA-CE8C-4B65-8A58-0AC71D0F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E45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E4521"/>
                </a:solidFill>
                <a:latin typeface="Arial"/>
                <a:ea typeface="Arial"/>
                <a:cs typeface="Arial"/>
              </a:rPr>
              <a:t>github.com/lzl051120/aurora-blog-platform</a:t>
            </a:r>
          </a:p>
        </p:txBody>
      </p:sp>
      <p:sp>
        <p:nvSpPr>
          <p:cNvPr id="7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2FF75CBF-40E2-4F53-8D31-D6DD9DE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A60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05C"/>
                </a:solidFill>
                <a:latin typeface="Arial"/>
                <a:ea typeface="Arial"/>
                <a:cs typeface="Arial"/>
              </a:rPr>
              <a:t>当前承诺：本地 Docker 部署；公网部署与正式实验报告暂不在本轮范围。</a:t>
            </a:r>
          </a:p>
        </p:txBody>
      </p:sp>
    </p:spTree>
    <p:extLst>
      <p:ext uri="{BB962C8B-B14F-4D97-AF65-F5344CB8AC3E}">
        <p14:creationId xmlns:p14="http://schemas.microsoft.com/office/powerpoint/2010/main" val="447766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2026-08-27T09:50:49.0820000Z</dcterms:created>
  <dcterms:modified xsi:type="dcterms:W3CDTF">2026-08-27T09:50:49.0820000Z</dcterms:modified>
</coreProperties>
</file>